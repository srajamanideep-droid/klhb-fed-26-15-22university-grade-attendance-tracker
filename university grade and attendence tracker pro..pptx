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6A8D50C-B6B4-840F-A644-C95F5049962D}">
          <p14:sldIdLst>
            <p14:sldId id="256"/>
          </p14:sldIdLst>
        </p14:section>
        <p14:section name="Overview" id="{8AA77096-C48A-9A6D-79BB-30DDAE282DED}">
          <p14:sldIdLst>
            <p14:sldId id="257"/>
            <p14:sldId id="258"/>
          </p14:sldIdLst>
        </p14:section>
        <p14:section name="Course Outcomes" id="{9DB59C08-FB5D-0C34-693E-D231BD2F32B9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Wrap-up" id="{4871F04F-49D7-8BCF-0E4E-A95FF54E8AE1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879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97280" cy="8229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11480"/>
            <a:ext cx="950976" cy="704088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1783080"/>
            <a:ext cx="67665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274320"/>
            <a:ext cx="1143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F3"/>
            </a:solidFill>
            <a:prstDash val="solid"/>
          </a:ln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616" y="374904"/>
            <a:ext cx="896112" cy="6675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8A"/>
                </a:solidFill>
              </a:rPr>
              <a:t>University Grade and Attendance Tracker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778240" y="6428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8A"/>
                </a:solidFill>
              </a:rPr>
              <a:t>16-10-2026</a:t>
            </a:r>
            <a:endParaRPr lang="en-US" sz="1000" dirty="0"/>
          </a:p>
        </p:txBody>
      </p:sp>
      <p:sp>
        <p:nvSpPr>
          <p:cNvPr id="6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320040"/>
            <a:ext cx="96926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5F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274320"/>
            <a:ext cx="1143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BF3"/>
            </a:solidFill>
            <a:prstDash val="solid"/>
          </a:ln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616" y="374904"/>
            <a:ext cx="896112" cy="6675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ADF0"/>
                </a:solidFill>
              </a:rPr>
              <a:t>University Grade and Attendance Tracker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778240" y="6428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DF0"/>
                </a:solidFill>
              </a:rPr>
              <a:t>16-10-2026</a:t>
            </a:r>
            <a:endParaRPr lang="en-US" sz="1000" dirty="0"/>
          </a:p>
        </p:txBody>
      </p:sp>
      <p:sp>
        <p:nvSpPr>
          <p:cNvPr id="6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320040"/>
            <a:ext cx="96926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ADF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5F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srajamanideep-droid/KLHB-FED-26-15-22University-Grade-Attendance-Tracker" TargetMode="Externa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_1"/>
          <p:cNvSpPr txBox="1"/>
          <p:nvPr/>
        </p:nvSpPr>
        <p:spPr>
          <a:xfrm>
            <a:off x="54864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3"/>
                </a:solidFill>
              </a:rPr>
              <a:t>JAVA PROJECT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1783080"/>
            <a:ext cx="6766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University </a:t>
            </a:r>
            <a:r>
              <a:rPr lang="en-US" sz="4400" b="1" dirty="0">
                <a:solidFill>
                  <a:schemeClr val="accent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</a:t>
            </a:r>
            <a:r>
              <a:rPr lang="en-US" sz="4400" b="1" dirty="0">
                <a:solidFill>
                  <a:schemeClr val="bg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and </a:t>
            </a:r>
            <a:r>
              <a:rPr lang="en-US" sz="4400" b="1" dirty="0">
                <a:solidFill>
                  <a:schemeClr val="accent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Attendance</a:t>
            </a:r>
            <a:r>
              <a:rPr lang="en-US" sz="4400" b="1" dirty="0">
                <a:solidFill>
                  <a:schemeClr val="bg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Tracker</a:t>
            </a:r>
            <a:endParaRPr lang="en-US" sz="4400" dirty="0"/>
          </a:p>
        </p:txBody>
      </p:sp>
      <p:sp>
        <p:nvSpPr>
          <p:cNvPr id="4" name="Team panel"/>
          <p:cNvSpPr/>
          <p:nvPr/>
        </p:nvSpPr>
        <p:spPr>
          <a:xfrm>
            <a:off x="548640" y="4251960"/>
            <a:ext cx="6583680" cy="1783080"/>
          </a:xfrm>
          <a:prstGeom prst="roundRect">
            <a:avLst>
              <a:gd name="adj" fmla="val 7179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5"/>
            </a:solidFill>
            <a:prstDash val="solid"/>
          </a:ln>
          <a:effectLst>
            <a:outerShdw blurRad="254000" dist="1016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label_2"/>
          <p:cNvSpPr txBox="1"/>
          <p:nvPr/>
        </p:nvSpPr>
        <p:spPr>
          <a:xfrm>
            <a:off x="86868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3"/>
                </a:solidFill>
              </a:rPr>
              <a:t>TEAM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818888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Thota V Harsha Vardhan</a:t>
            </a:r>
            <a:r>
              <a:rPr lang="en-US" sz="1300" dirty="0">
                <a:solidFill>
                  <a:schemeClr val="accent5"/>
                </a:solidFill>
              </a:rPr>
              <a:t>   2620030071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S. Raja Manideep</a:t>
            </a:r>
            <a:r>
              <a:rPr lang="en-US" sz="1300" dirty="0">
                <a:solidFill>
                  <a:schemeClr val="accent5"/>
                </a:solidFill>
              </a:rPr>
              <a:t>   2620030406</a:t>
            </a:r>
            <a:endParaRPr lang="en-US" sz="1600" dirty="0"/>
          </a:p>
        </p:txBody>
      </p:sp>
      <p:sp>
        <p:nvSpPr>
          <p:cNvPr id="7" name="label_3"/>
          <p:cNvSpPr txBox="1"/>
          <p:nvPr/>
        </p:nvSpPr>
        <p:spPr>
          <a:xfrm>
            <a:off x="457200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3"/>
                </a:solidFill>
              </a:rPr>
              <a:t>GUIDE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818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Dr. K. Sreeram Murthy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5257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16-10-2026</a:t>
            </a:r>
            <a:endParaRPr lang="en-US" sz="1400" dirty="0"/>
          </a:p>
        </p:txBody>
      </p:sp>
      <p:sp>
        <p:nvSpPr>
          <p:cNvPr id="10" name="Ring track"/>
          <p:cNvSpPr/>
          <p:nvPr/>
        </p:nvSpPr>
        <p:spPr>
          <a:xfrm>
            <a:off x="8732520" y="685800"/>
            <a:ext cx="2468880" cy="2468880"/>
          </a:xfrm>
          <a:prstGeom prst="ellipse">
            <a:avLst/>
          </a:prstGeom>
          <a:solidFill>
            <a:schemeClr val="tx1">
              <a:alpha val="80000"/>
            </a:schemeClr>
          </a:solidFill>
          <a:ln w="177800">
            <a:solidFill>
              <a:schemeClr val="accent6"/>
            </a:solidFill>
            <a:prstDash val="solid"/>
          </a:ln>
          <a:effectLst>
            <a:outerShdw blurRad="330200" dist="1270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1" name="Ring progress"/>
          <p:cNvSpPr/>
          <p:nvPr/>
        </p:nvSpPr>
        <p:spPr>
          <a:xfrm>
            <a:off x="8732520" y="685800"/>
            <a:ext cx="2468880" cy="2468880"/>
          </a:xfrm>
          <a:prstGeom prst="arc">
            <a:avLst>
              <a:gd name="adj1" fmla="val 16200000"/>
              <a:gd name="adj2" fmla="val 14460000"/>
            </a:avLst>
          </a:prstGeom>
          <a:noFill/>
          <a:ln w="177800">
            <a:solidFill>
              <a:schemeClr val="accent3"/>
            </a:solidFill>
            <a:prstDash val="solid"/>
          </a:ln>
        </p:spPr>
      </p:sp>
      <p:sp>
        <p:nvSpPr>
          <p:cNvPr id="12" name="Ring label"/>
          <p:cNvSpPr txBox="1"/>
          <p:nvPr/>
        </p:nvSpPr>
        <p:spPr>
          <a:xfrm>
            <a:off x="8732520" y="13258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92%</a:t>
            </a:r>
            <a:endParaRPr lang="en-US" sz="4000" dirty="0"/>
          </a:p>
          <a:p>
            <a:pPr marL="0" indent="0" algn="ctr">
              <a:buNone/>
            </a:pPr>
            <a:r>
              <a:rPr lang="en-US" sz="1100" b="1" kern="0" spc="400" dirty="0">
                <a:solidFill>
                  <a:schemeClr val="accent3"/>
                </a:solidFill>
              </a:rPr>
              <a:t>ATTENDANCE</a:t>
            </a:r>
            <a:endParaRPr lang="en-US" sz="4000" dirty="0"/>
          </a:p>
        </p:txBody>
      </p:sp>
      <p:sp>
        <p:nvSpPr>
          <p:cNvPr id="13" name="Grade bar C"/>
          <p:cNvSpPr/>
          <p:nvPr/>
        </p:nvSpPr>
        <p:spPr>
          <a:xfrm>
            <a:off x="7680960" y="4800600"/>
            <a:ext cx="960120" cy="1188720"/>
          </a:xfrm>
          <a:prstGeom prst="cube">
            <a:avLst/>
          </a:prstGeom>
          <a:solidFill>
            <a:srgbClr val="5B5BF0"/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blurRad="228600" dist="1016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4" name="Grade C"/>
          <p:cNvSpPr txBox="1"/>
          <p:nvPr/>
        </p:nvSpPr>
        <p:spPr>
          <a:xfrm>
            <a:off x="7680960" y="5157216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Grade bar B"/>
          <p:cNvSpPr/>
          <p:nvPr/>
        </p:nvSpPr>
        <p:spPr>
          <a:xfrm>
            <a:off x="8759952" y="4251960"/>
            <a:ext cx="960120" cy="1737360"/>
          </a:xfrm>
          <a:prstGeom prst="cube">
            <a:avLst/>
          </a:prstGeom>
          <a:solidFill>
            <a:srgbClr val="22C3A6"/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blurRad="228600" dist="1016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6" name="Grade B"/>
          <p:cNvSpPr txBox="1"/>
          <p:nvPr/>
        </p:nvSpPr>
        <p:spPr>
          <a:xfrm>
            <a:off x="8759952" y="4773168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000" dirty="0"/>
          </a:p>
        </p:txBody>
      </p:sp>
      <p:sp>
        <p:nvSpPr>
          <p:cNvPr id="17" name="Grade bar A"/>
          <p:cNvSpPr/>
          <p:nvPr/>
        </p:nvSpPr>
        <p:spPr>
          <a:xfrm>
            <a:off x="9838944" y="3703320"/>
            <a:ext cx="960120" cy="2286000"/>
          </a:xfrm>
          <a:prstGeom prst="cube">
            <a:avLst/>
          </a:prstGeom>
          <a:solidFill>
            <a:srgbClr val="FFC145"/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blurRad="228600" dist="1016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8" name="Grade A"/>
          <p:cNvSpPr txBox="1"/>
          <p:nvPr/>
        </p:nvSpPr>
        <p:spPr>
          <a:xfrm>
            <a:off x="9838944" y="4389120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1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000" dirty="0"/>
          </a:p>
        </p:txBody>
      </p:sp>
      <p:sp>
        <p:nvSpPr>
          <p:cNvPr id="19" name="Grade bar A+"/>
          <p:cNvSpPr/>
          <p:nvPr/>
        </p:nvSpPr>
        <p:spPr>
          <a:xfrm>
            <a:off x="10917936" y="3154680"/>
            <a:ext cx="960120" cy="2834640"/>
          </a:xfrm>
          <a:prstGeom prst="cube">
            <a:avLst/>
          </a:prstGeom>
          <a:solidFill>
            <a:srgbClr val="FF6B57"/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blurRad="228600" dist="1016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20" name="Grade A+"/>
          <p:cNvSpPr txBox="1"/>
          <p:nvPr/>
        </p:nvSpPr>
        <p:spPr>
          <a:xfrm>
            <a:off x="10917936" y="4005072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A+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3200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Abstract</a:t>
            </a:r>
            <a:endParaRPr lang="en-US" sz="3600" dirty="0"/>
          </a:p>
        </p:txBody>
      </p:sp>
      <p:sp>
        <p:nvSpPr>
          <p:cNvPr id="3" name="card_4"/>
          <p:cNvSpPr/>
          <p:nvPr/>
        </p:nvSpPr>
        <p:spPr>
          <a:xfrm>
            <a:off x="548640" y="1463040"/>
            <a:ext cx="4206240" cy="466344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blurRad="254000" dist="1016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" name="label_5"/>
          <p:cNvSpPr txBox="1"/>
          <p:nvPr/>
        </p:nvSpPr>
        <p:spPr>
          <a:xfrm>
            <a:off x="86868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3"/>
                </a:solidFill>
              </a:rPr>
              <a:t>PROJECT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University Grade and Attendance Tracker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4290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A Java application that records student attendance and marks, calculates grades and generates a readable report.</a:t>
            </a:r>
            <a:endParaRPr lang="en-US" sz="1500" dirty="0"/>
          </a:p>
        </p:txBody>
      </p:sp>
      <p:sp>
        <p:nvSpPr>
          <p:cNvPr id="7" name="label_6"/>
          <p:cNvSpPr txBox="1"/>
          <p:nvPr/>
        </p:nvSpPr>
        <p:spPr>
          <a:xfrm>
            <a:off x="86868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3"/>
                </a:solidFill>
              </a:rPr>
              <a:t>TECHNOLOGY</a:t>
            </a:r>
            <a:endParaRPr lang="en-US" sz="1100" dirty="0"/>
          </a:p>
        </p:txBody>
      </p:sp>
      <p:sp>
        <p:nvSpPr>
          <p:cNvPr id="8" name="chip_7"/>
          <p:cNvSpPr/>
          <p:nvPr/>
        </p:nvSpPr>
        <p:spPr>
          <a:xfrm>
            <a:off x="868680" y="5166360"/>
            <a:ext cx="73152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51663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Java</a:t>
            </a:r>
            <a:endParaRPr lang="en-US" sz="1300" dirty="0"/>
          </a:p>
        </p:txBody>
      </p:sp>
      <p:sp>
        <p:nvSpPr>
          <p:cNvPr id="10" name="chip_8"/>
          <p:cNvSpPr/>
          <p:nvPr/>
        </p:nvSpPr>
        <p:spPr>
          <a:xfrm>
            <a:off x="1709928" y="5166360"/>
            <a:ext cx="64008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09928" y="51663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OOP</a:t>
            </a:r>
            <a:endParaRPr lang="en-US" sz="1300" dirty="0"/>
          </a:p>
        </p:txBody>
      </p:sp>
      <p:sp>
        <p:nvSpPr>
          <p:cNvPr id="12" name="chip_9"/>
          <p:cNvSpPr/>
          <p:nvPr/>
        </p:nvSpPr>
        <p:spPr>
          <a:xfrm>
            <a:off x="2459736" y="5166360"/>
            <a:ext cx="137160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59736" y="5166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Collections</a:t>
            </a:r>
            <a:endParaRPr lang="en-US" sz="1300" dirty="0"/>
          </a:p>
        </p:txBody>
      </p:sp>
      <p:sp>
        <p:nvSpPr>
          <p:cNvPr id="14" name="chip_10"/>
          <p:cNvSpPr/>
          <p:nvPr/>
        </p:nvSpPr>
        <p:spPr>
          <a:xfrm>
            <a:off x="868680" y="5641848"/>
            <a:ext cx="100584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56418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Streams</a:t>
            </a:r>
            <a:endParaRPr lang="en-US" sz="1300" dirty="0"/>
          </a:p>
        </p:txBody>
      </p:sp>
      <p:sp>
        <p:nvSpPr>
          <p:cNvPr id="16" name="chip_11"/>
          <p:cNvSpPr/>
          <p:nvPr/>
        </p:nvSpPr>
        <p:spPr>
          <a:xfrm>
            <a:off x="1984248" y="5641848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984248" y="56418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java.nio.file</a:t>
            </a:r>
            <a:endParaRPr lang="en-US" sz="1300" dirty="0"/>
          </a:p>
        </p:txBody>
      </p:sp>
      <p:sp>
        <p:nvSpPr>
          <p:cNvPr id="18" name="card_12"/>
          <p:cNvSpPr/>
          <p:nvPr/>
        </p:nvSpPr>
        <p:spPr>
          <a:xfrm>
            <a:off x="5029200" y="1463040"/>
            <a:ext cx="324612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19" name="badge_13"/>
          <p:cNvSpPr/>
          <p:nvPr/>
        </p:nvSpPr>
        <p:spPr>
          <a:xfrm>
            <a:off x="5303520" y="173736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5B5BF0"/>
          </a:solidFill>
          <a:ln w="12700">
            <a:solidFill>
              <a:srgbClr val="5B5BF0"/>
            </a:solidFill>
            <a:prstDash val="solid"/>
          </a:ln>
        </p:spPr>
      </p:sp>
      <p:pic>
        <p:nvPicPr>
          <p:cNvPr id="20" name="icon_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92024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30352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Student records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5303520" y="29443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Registers students and courses with roll numbers.</a:t>
            </a:r>
            <a:endParaRPr lang="en-US" sz="1400" dirty="0"/>
          </a:p>
        </p:txBody>
      </p:sp>
      <p:sp>
        <p:nvSpPr>
          <p:cNvPr id="23" name="card_15"/>
          <p:cNvSpPr/>
          <p:nvPr/>
        </p:nvSpPr>
        <p:spPr>
          <a:xfrm>
            <a:off x="8458200" y="1463040"/>
            <a:ext cx="324612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24" name="badge_16"/>
          <p:cNvSpPr/>
          <p:nvPr/>
        </p:nvSpPr>
        <p:spPr>
          <a:xfrm>
            <a:off x="8732520" y="173736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22C3A6"/>
          </a:solidFill>
          <a:ln w="12700">
            <a:solidFill>
              <a:srgbClr val="22C3A6"/>
            </a:solidFill>
            <a:prstDash val="solid"/>
          </a:ln>
        </p:spPr>
      </p:sp>
      <p:pic>
        <p:nvPicPr>
          <p:cNvPr id="25" name="icon_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1920240"/>
            <a:ext cx="365760" cy="36576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73252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Attendance</a:t>
            </a:r>
            <a:endParaRPr lang="en-US" sz="1700" dirty="0"/>
          </a:p>
        </p:txBody>
      </p:sp>
      <p:sp>
        <p:nvSpPr>
          <p:cNvPr id="27" name="Text 23"/>
          <p:cNvSpPr txBox="1"/>
          <p:nvPr/>
        </p:nvSpPr>
        <p:spPr>
          <a:xfrm>
            <a:off x="8732520" y="29443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Marks attendance and calculates the percentage.</a:t>
            </a:r>
            <a:endParaRPr lang="en-US" sz="1400" dirty="0"/>
          </a:p>
        </p:txBody>
      </p:sp>
      <p:sp>
        <p:nvSpPr>
          <p:cNvPr id="28" name="card_18"/>
          <p:cNvSpPr/>
          <p:nvPr/>
        </p:nvSpPr>
        <p:spPr>
          <a:xfrm>
            <a:off x="5029200" y="3886200"/>
            <a:ext cx="324612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29" name="badge_19"/>
          <p:cNvSpPr/>
          <p:nvPr/>
        </p:nvSpPr>
        <p:spPr>
          <a:xfrm>
            <a:off x="5303520" y="416052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pic>
        <p:nvPicPr>
          <p:cNvPr id="30" name="icon_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4343400"/>
            <a:ext cx="365760" cy="36576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303520" y="5029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Marks &amp; grades</a:t>
            </a:r>
            <a:endParaRPr lang="en-US" sz="1700" dirty="0"/>
          </a:p>
        </p:txBody>
      </p:sp>
      <p:sp>
        <p:nvSpPr>
          <p:cNvPr id="32" name="Text 27"/>
          <p:cNvSpPr txBox="1"/>
          <p:nvPr/>
        </p:nvSpPr>
        <p:spPr>
          <a:xfrm>
            <a:off x="5303520" y="53675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Records marks and assigns a grade automatically.</a:t>
            </a:r>
            <a:endParaRPr lang="en-US" sz="1400" dirty="0"/>
          </a:p>
        </p:txBody>
      </p:sp>
      <p:sp>
        <p:nvSpPr>
          <p:cNvPr id="33" name="card_21"/>
          <p:cNvSpPr/>
          <p:nvPr/>
        </p:nvSpPr>
        <p:spPr>
          <a:xfrm>
            <a:off x="8458200" y="3886200"/>
            <a:ext cx="324612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34" name="badge_22"/>
          <p:cNvSpPr/>
          <p:nvPr/>
        </p:nvSpPr>
        <p:spPr>
          <a:xfrm>
            <a:off x="8732520" y="416052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35" name="icon_2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4343400"/>
            <a:ext cx="365760" cy="365760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8732520" y="5029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Report export</a:t>
            </a:r>
            <a:endParaRPr lang="en-US" sz="1700" dirty="0"/>
          </a:p>
        </p:txBody>
      </p:sp>
      <p:sp>
        <p:nvSpPr>
          <p:cNvPr id="37" name="Text 31"/>
          <p:cNvSpPr txBox="1"/>
          <p:nvPr/>
        </p:nvSpPr>
        <p:spPr>
          <a:xfrm>
            <a:off x="8732520" y="53675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Searches records and saves a report as a text file.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5F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3200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Understanding Problem Statement</a:t>
            </a:r>
            <a:endParaRPr lang="en-US" sz="3600" dirty="0"/>
          </a:p>
        </p:txBody>
      </p:sp>
      <p:sp>
        <p:nvSpPr>
          <p:cNvPr id="3" name="card_24"/>
          <p:cNvSpPr/>
          <p:nvPr/>
        </p:nvSpPr>
        <p:spPr>
          <a:xfrm>
            <a:off x="548640" y="1463040"/>
            <a:ext cx="11091672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blurRad="254000" dist="1016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" name="badge_25"/>
          <p:cNvSpPr/>
          <p:nvPr/>
        </p:nvSpPr>
        <p:spPr>
          <a:xfrm>
            <a:off x="822960" y="169164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5" name="icon_2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828800"/>
            <a:ext cx="274320" cy="274320"/>
          </a:xfrm>
          <a:prstGeom prst="rect">
            <a:avLst/>
          </a:prstGeom>
        </p:spPr>
      </p:pic>
      <p:sp>
        <p:nvSpPr>
          <p:cNvPr id="6" name="label_27"/>
          <p:cNvSpPr txBox="1"/>
          <p:nvPr/>
        </p:nvSpPr>
        <p:spPr>
          <a:xfrm>
            <a:off x="160020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2"/>
                </a:solidFill>
              </a:rPr>
              <a:t>PROBLEM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8745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Manual attendance registers and mark sheets are slow, repetitive and error-prone.</a:t>
            </a:r>
            <a:endParaRPr lang="en-US" sz="1800" dirty="0"/>
          </a:p>
        </p:txBody>
      </p:sp>
      <p:sp>
        <p:nvSpPr>
          <p:cNvPr id="8" name="card_28"/>
          <p:cNvSpPr/>
          <p:nvPr/>
        </p:nvSpPr>
        <p:spPr>
          <a:xfrm>
            <a:off x="548640" y="2697480"/>
            <a:ext cx="3593592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9" name="pt_29"/>
          <p:cNvSpPr/>
          <p:nvPr/>
        </p:nvSpPr>
        <p:spPr>
          <a:xfrm>
            <a:off x="777240" y="2926080"/>
            <a:ext cx="91440" cy="914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1089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Attendance entries may be missed or recorded inconsistently.</a:t>
            </a:r>
            <a:endParaRPr lang="en-US" sz="1500" dirty="0"/>
          </a:p>
        </p:txBody>
      </p:sp>
      <p:sp>
        <p:nvSpPr>
          <p:cNvPr id="11" name="card_30"/>
          <p:cNvSpPr/>
          <p:nvPr/>
        </p:nvSpPr>
        <p:spPr>
          <a:xfrm>
            <a:off x="4297680" y="2697480"/>
            <a:ext cx="3593592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12" name="pt_31"/>
          <p:cNvSpPr/>
          <p:nvPr/>
        </p:nvSpPr>
        <p:spPr>
          <a:xfrm>
            <a:off x="4526280" y="2926080"/>
            <a:ext cx="91440" cy="914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26280" y="31089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Calculating attendance percentage and grades by hand is tedious.</a:t>
            </a:r>
            <a:endParaRPr lang="en-US" sz="1500" dirty="0"/>
          </a:p>
        </p:txBody>
      </p:sp>
      <p:sp>
        <p:nvSpPr>
          <p:cNvPr id="14" name="card_32"/>
          <p:cNvSpPr/>
          <p:nvPr/>
        </p:nvSpPr>
        <p:spPr>
          <a:xfrm>
            <a:off x="8046720" y="2697480"/>
            <a:ext cx="3593592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15" name="pt_33"/>
          <p:cNvSpPr/>
          <p:nvPr/>
        </p:nvSpPr>
        <p:spPr>
          <a:xfrm>
            <a:off x="8275320" y="2926080"/>
            <a:ext cx="91440" cy="914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31089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Students falling short of the minimum attendance may go unnoticed.</a:t>
            </a:r>
            <a:endParaRPr lang="en-US" sz="1500" dirty="0"/>
          </a:p>
        </p:txBody>
      </p:sp>
      <p:sp>
        <p:nvSpPr>
          <p:cNvPr id="17" name="label_34"/>
          <p:cNvSpPr txBox="1"/>
          <p:nvPr/>
        </p:nvSpPr>
        <p:spPr>
          <a:xfrm>
            <a:off x="548640" y="4370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1"/>
                </a:solidFill>
              </a:rPr>
              <a:t>OBJECTIVES</a:t>
            </a:r>
            <a:endParaRPr lang="en-US" sz="1100" dirty="0"/>
          </a:p>
        </p:txBody>
      </p:sp>
      <p:sp>
        <p:nvSpPr>
          <p:cNvPr id="18" name="card_35"/>
          <p:cNvSpPr/>
          <p:nvPr/>
        </p:nvSpPr>
        <p:spPr>
          <a:xfrm>
            <a:off x="548640" y="4709160"/>
            <a:ext cx="267919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19" name="numbadge_36"/>
          <p:cNvSpPr/>
          <p:nvPr/>
        </p:nvSpPr>
        <p:spPr>
          <a:xfrm>
            <a:off x="749808" y="4892040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9808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49808" y="534924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Record attendance and marks for every student.</a:t>
            </a:r>
            <a:endParaRPr lang="en-US" sz="1400" dirty="0"/>
          </a:p>
        </p:txBody>
      </p:sp>
      <p:sp>
        <p:nvSpPr>
          <p:cNvPr id="22" name="card_37"/>
          <p:cNvSpPr/>
          <p:nvPr/>
        </p:nvSpPr>
        <p:spPr>
          <a:xfrm>
            <a:off x="3364992" y="4709160"/>
            <a:ext cx="267919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23" name="numbadge_38"/>
          <p:cNvSpPr/>
          <p:nvPr/>
        </p:nvSpPr>
        <p:spPr>
          <a:xfrm>
            <a:off x="3566160" y="4892040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6616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3566160" y="534924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Calculate attendance percentage and grade automatically.</a:t>
            </a:r>
            <a:endParaRPr lang="en-US" sz="1400" dirty="0"/>
          </a:p>
        </p:txBody>
      </p:sp>
      <p:sp>
        <p:nvSpPr>
          <p:cNvPr id="26" name="card_39"/>
          <p:cNvSpPr/>
          <p:nvPr/>
        </p:nvSpPr>
        <p:spPr>
          <a:xfrm>
            <a:off x="6181344" y="4709160"/>
            <a:ext cx="267919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C14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27" name="numbadge_40"/>
          <p:cNvSpPr/>
          <p:nvPr/>
        </p:nvSpPr>
        <p:spPr>
          <a:xfrm>
            <a:off x="6382512" y="4892040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82512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382512" y="534924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Flag students below the attendance requirement.</a:t>
            </a:r>
            <a:endParaRPr lang="en-US" sz="1400" dirty="0"/>
          </a:p>
        </p:txBody>
      </p:sp>
      <p:sp>
        <p:nvSpPr>
          <p:cNvPr id="30" name="card_41"/>
          <p:cNvSpPr/>
          <p:nvPr/>
        </p:nvSpPr>
        <p:spPr>
          <a:xfrm>
            <a:off x="8997696" y="4709160"/>
            <a:ext cx="267919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31" name="numbadge_42"/>
          <p:cNvSpPr/>
          <p:nvPr/>
        </p:nvSpPr>
        <p:spPr>
          <a:xfrm>
            <a:off x="9198864" y="4892040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98864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9198864" y="534924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Demonstrate Java concepts through a practical project.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5F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3200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 1 Topics</a:t>
            </a:r>
            <a:endParaRPr lang="en-US" sz="3600" dirty="0"/>
          </a:p>
        </p:txBody>
      </p:sp>
      <p:sp>
        <p:nvSpPr>
          <p:cNvPr id="3" name="badge_43"/>
          <p:cNvSpPr/>
          <p:nvPr/>
        </p:nvSpPr>
        <p:spPr>
          <a:xfrm>
            <a:off x="548640" y="150876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5B5BF0"/>
          </a:solidFill>
          <a:ln w="12700">
            <a:solidFill>
              <a:srgbClr val="5B5BF0"/>
            </a:solidFill>
            <a:prstDash val="solid"/>
          </a:ln>
        </p:spPr>
      </p:sp>
      <p:pic>
        <p:nvPicPr>
          <p:cNvPr id="4" name="icon_4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703070"/>
            <a:ext cx="388620" cy="388620"/>
          </a:xfrm>
          <a:prstGeom prst="rect">
            <a:avLst/>
          </a:prstGeom>
        </p:spPr>
      </p:pic>
      <p:sp>
        <p:nvSpPr>
          <p:cNvPr id="5" name="label_45"/>
          <p:cNvSpPr txBox="1"/>
          <p:nvPr/>
        </p:nvSpPr>
        <p:spPr>
          <a:xfrm>
            <a:off x="548640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bg2"/>
                </a:solidFill>
              </a:rPr>
              <a:t>COURSE OUTCOME</a:t>
            </a:r>
            <a:endParaRPr lang="en-US" sz="1100" dirty="0"/>
          </a:p>
        </p:txBody>
      </p:sp>
      <p:sp>
        <p:nvSpPr>
          <p:cNvPr id="6" name="CO numeral shadow"/>
          <p:cNvSpPr txBox="1"/>
          <p:nvPr/>
        </p:nvSpPr>
        <p:spPr>
          <a:xfrm>
            <a:off x="621792" y="2816352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chemeClr val="accent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3000" dirty="0"/>
          </a:p>
        </p:txBody>
      </p:sp>
      <p:sp>
        <p:nvSpPr>
          <p:cNvPr id="7" name="CO numeral"/>
          <p:cNvSpPr txBox="1"/>
          <p:nvPr/>
        </p:nvSpPr>
        <p:spPr>
          <a:xfrm>
            <a:off x="548640" y="27432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chemeClr val="accent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3000" dirty="0"/>
          </a:p>
        </p:txBody>
      </p:sp>
      <p:sp>
        <p:nvSpPr>
          <p:cNvPr id="8" name="CO subject"/>
          <p:cNvSpPr txBox="1"/>
          <p:nvPr/>
        </p:nvSpPr>
        <p:spPr>
          <a:xfrm>
            <a:off x="548640" y="48463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Java Foundations</a:t>
            </a:r>
            <a:endParaRPr lang="en-US" sz="2200" dirty="0"/>
          </a:p>
        </p:txBody>
      </p:sp>
      <p:sp>
        <p:nvSpPr>
          <p:cNvPr id="9" name="card_46"/>
          <p:cNvSpPr/>
          <p:nvPr/>
        </p:nvSpPr>
        <p:spPr>
          <a:xfrm>
            <a:off x="3931920" y="146304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10" name="numbadge_47"/>
          <p:cNvSpPr/>
          <p:nvPr/>
        </p:nvSpPr>
        <p:spPr>
          <a:xfrm>
            <a:off x="4160520" y="166420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6052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164592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Variables and data types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217627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store roll numbers, marks and attendance counts.</a:t>
            </a:r>
            <a:endParaRPr lang="en-US" sz="1400" dirty="0"/>
          </a:p>
        </p:txBody>
      </p:sp>
      <p:sp>
        <p:nvSpPr>
          <p:cNvPr id="14" name="card_48"/>
          <p:cNvSpPr/>
          <p:nvPr/>
        </p:nvSpPr>
        <p:spPr>
          <a:xfrm>
            <a:off x="7877556" y="146304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15" name="numbadge_49"/>
          <p:cNvSpPr/>
          <p:nvPr/>
        </p:nvSpPr>
        <p:spPr>
          <a:xfrm>
            <a:off x="8106156" y="166420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106156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609076" y="164592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Scanner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106156" y="217627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accepts attendance and marks input from the console.</a:t>
            </a:r>
            <a:endParaRPr lang="en-US" sz="1400" dirty="0"/>
          </a:p>
        </p:txBody>
      </p:sp>
      <p:sp>
        <p:nvSpPr>
          <p:cNvPr id="19" name="card_50"/>
          <p:cNvSpPr/>
          <p:nvPr/>
        </p:nvSpPr>
        <p:spPr>
          <a:xfrm>
            <a:off x="3931920" y="301752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20" name="numbadge_51"/>
          <p:cNvSpPr/>
          <p:nvPr/>
        </p:nvSpPr>
        <p:spPr>
          <a:xfrm>
            <a:off x="4160520" y="321868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16052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663440" y="320040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Operators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160520" y="373075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calculate the attendance percentage and average marks.</a:t>
            </a:r>
            <a:endParaRPr lang="en-US" sz="1400" dirty="0"/>
          </a:p>
        </p:txBody>
      </p:sp>
      <p:sp>
        <p:nvSpPr>
          <p:cNvPr id="24" name="card_52"/>
          <p:cNvSpPr/>
          <p:nvPr/>
        </p:nvSpPr>
        <p:spPr>
          <a:xfrm>
            <a:off x="7877556" y="301752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25" name="numbadge_53"/>
          <p:cNvSpPr/>
          <p:nvPr/>
        </p:nvSpPr>
        <p:spPr>
          <a:xfrm>
            <a:off x="8106156" y="321868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106156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8609076" y="320040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Formatted output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106156" y="373075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presents student details and results clearly.</a:t>
            </a:r>
            <a:endParaRPr lang="en-US" sz="1400" dirty="0"/>
          </a:p>
        </p:txBody>
      </p:sp>
      <p:sp>
        <p:nvSpPr>
          <p:cNvPr id="29" name="Example callout"/>
          <p:cNvSpPr/>
          <p:nvPr/>
        </p:nvSpPr>
        <p:spPr>
          <a:xfrm>
            <a:off x="3931920" y="4572000"/>
            <a:ext cx="7708392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blurRad="177800" dist="50800" dir="5400000" algn="bl" rotWithShape="0">
              <a:srgbClr val="1B1F4B">
                <a:alpha val="25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4206240" y="4572000"/>
            <a:ext cx="7159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3"/>
                </a:solidFill>
              </a:rPr>
              <a:t>PROJECT EXAMPLE</a:t>
            </a:r>
            <a:endParaRPr lang="en-US" sz="11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 student who attends 36 of 40 classes has 90% attendance.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5F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3200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 2 Topics</a:t>
            </a:r>
            <a:endParaRPr lang="en-US" sz="3600" dirty="0"/>
          </a:p>
        </p:txBody>
      </p:sp>
      <p:sp>
        <p:nvSpPr>
          <p:cNvPr id="3" name="badge_54"/>
          <p:cNvSpPr/>
          <p:nvPr/>
        </p:nvSpPr>
        <p:spPr>
          <a:xfrm>
            <a:off x="8622792" y="150876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5B5BF0"/>
          </a:solidFill>
          <a:ln w="12700">
            <a:solidFill>
              <a:srgbClr val="5B5BF0"/>
            </a:solidFill>
            <a:prstDash val="solid"/>
          </a:ln>
        </p:spPr>
      </p:sp>
      <p:pic>
        <p:nvPicPr>
          <p:cNvPr id="4" name="icon_5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7102" y="1703070"/>
            <a:ext cx="388620" cy="388620"/>
          </a:xfrm>
          <a:prstGeom prst="rect">
            <a:avLst/>
          </a:prstGeom>
        </p:spPr>
      </p:pic>
      <p:sp>
        <p:nvSpPr>
          <p:cNvPr id="5" name="label_56"/>
          <p:cNvSpPr txBox="1"/>
          <p:nvPr/>
        </p:nvSpPr>
        <p:spPr>
          <a:xfrm>
            <a:off x="8622792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bg2"/>
                </a:solidFill>
              </a:rPr>
              <a:t>COURSE OUTCOME</a:t>
            </a:r>
            <a:endParaRPr lang="en-US" sz="1100" dirty="0"/>
          </a:p>
        </p:txBody>
      </p:sp>
      <p:sp>
        <p:nvSpPr>
          <p:cNvPr id="6" name="CO numeral shadow"/>
          <p:cNvSpPr txBox="1"/>
          <p:nvPr/>
        </p:nvSpPr>
        <p:spPr>
          <a:xfrm>
            <a:off x="8695944" y="2816352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chemeClr val="accent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3000" dirty="0"/>
          </a:p>
        </p:txBody>
      </p:sp>
      <p:sp>
        <p:nvSpPr>
          <p:cNvPr id="7" name="CO numeral"/>
          <p:cNvSpPr txBox="1"/>
          <p:nvPr/>
        </p:nvSpPr>
        <p:spPr>
          <a:xfrm>
            <a:off x="8622792" y="27432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chemeClr val="accent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3000" dirty="0"/>
          </a:p>
        </p:txBody>
      </p:sp>
      <p:sp>
        <p:nvSpPr>
          <p:cNvPr id="8" name="CO subject"/>
          <p:cNvSpPr txBox="1"/>
          <p:nvPr/>
        </p:nvSpPr>
        <p:spPr>
          <a:xfrm>
            <a:off x="8622792" y="48463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Control Flow</a:t>
            </a:r>
            <a:endParaRPr lang="en-US" sz="2200" dirty="0"/>
          </a:p>
        </p:txBody>
      </p:sp>
      <p:sp>
        <p:nvSpPr>
          <p:cNvPr id="9" name="card_57"/>
          <p:cNvSpPr/>
          <p:nvPr/>
        </p:nvSpPr>
        <p:spPr>
          <a:xfrm>
            <a:off x="548640" y="146304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10" name="numbadge_58"/>
          <p:cNvSpPr/>
          <p:nvPr/>
        </p:nvSpPr>
        <p:spPr>
          <a:xfrm>
            <a:off x="777240" y="166420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164592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if-else statements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17627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assign a grade from the marks range and check attendance.</a:t>
            </a:r>
            <a:endParaRPr lang="en-US" sz="1400" dirty="0"/>
          </a:p>
        </p:txBody>
      </p:sp>
      <p:sp>
        <p:nvSpPr>
          <p:cNvPr id="14" name="card_59"/>
          <p:cNvSpPr/>
          <p:nvPr/>
        </p:nvSpPr>
        <p:spPr>
          <a:xfrm>
            <a:off x="4494276" y="146304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15" name="numbadge_60"/>
          <p:cNvSpPr/>
          <p:nvPr/>
        </p:nvSpPr>
        <p:spPr>
          <a:xfrm>
            <a:off x="4722876" y="166420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22876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225796" y="164592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switch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722876" y="217627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selects the operation from the main menu.</a:t>
            </a:r>
            <a:endParaRPr lang="en-US" sz="1400" dirty="0"/>
          </a:p>
        </p:txBody>
      </p:sp>
      <p:sp>
        <p:nvSpPr>
          <p:cNvPr id="19" name="card_61"/>
          <p:cNvSpPr/>
          <p:nvPr/>
        </p:nvSpPr>
        <p:spPr>
          <a:xfrm>
            <a:off x="548640" y="301752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20" name="numbadge_62"/>
          <p:cNvSpPr/>
          <p:nvPr/>
        </p:nvSpPr>
        <p:spPr>
          <a:xfrm>
            <a:off x="777240" y="321868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320040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while loops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373075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keep the menu active until the user exits.</a:t>
            </a:r>
            <a:endParaRPr lang="en-US" sz="1400" dirty="0"/>
          </a:p>
        </p:txBody>
      </p:sp>
      <p:sp>
        <p:nvSpPr>
          <p:cNvPr id="24" name="card_63"/>
          <p:cNvSpPr/>
          <p:nvPr/>
        </p:nvSpPr>
        <p:spPr>
          <a:xfrm>
            <a:off x="4494276" y="301752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25" name="numbadge_64"/>
          <p:cNvSpPr/>
          <p:nvPr/>
        </p:nvSpPr>
        <p:spPr>
          <a:xfrm>
            <a:off x="4722876" y="321868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22876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225796" y="320040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Exception handling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722876" y="373075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displays useful messages for invalid marks or attendance.</a:t>
            </a:r>
            <a:endParaRPr lang="en-US" sz="1400" dirty="0"/>
          </a:p>
        </p:txBody>
      </p:sp>
      <p:sp>
        <p:nvSpPr>
          <p:cNvPr id="29" name="Example callout"/>
          <p:cNvSpPr/>
          <p:nvPr/>
        </p:nvSpPr>
        <p:spPr>
          <a:xfrm>
            <a:off x="548640" y="4572000"/>
            <a:ext cx="7708392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blurRad="177800" dist="50800" dir="5400000" algn="bl" rotWithShape="0">
              <a:srgbClr val="1B1F4B">
                <a:alpha val="25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822960" y="4572000"/>
            <a:ext cx="7159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3"/>
                </a:solidFill>
              </a:rPr>
              <a:t>PROJECT EXAMPLE</a:t>
            </a:r>
            <a:endParaRPr lang="en-US" sz="11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 student below the required attendance is flagged as short.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5F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3200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 3 Topics</a:t>
            </a:r>
            <a:endParaRPr lang="en-US" sz="3600" dirty="0"/>
          </a:p>
        </p:txBody>
      </p:sp>
      <p:sp>
        <p:nvSpPr>
          <p:cNvPr id="3" name="badge_65"/>
          <p:cNvSpPr/>
          <p:nvPr/>
        </p:nvSpPr>
        <p:spPr>
          <a:xfrm>
            <a:off x="548640" y="150876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5B5BF0"/>
          </a:solidFill>
          <a:ln w="12700">
            <a:solidFill>
              <a:srgbClr val="5B5BF0"/>
            </a:solidFill>
            <a:prstDash val="solid"/>
          </a:ln>
        </p:spPr>
      </p:sp>
      <p:pic>
        <p:nvPicPr>
          <p:cNvPr id="4" name="icon_6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703070"/>
            <a:ext cx="388620" cy="388620"/>
          </a:xfrm>
          <a:prstGeom prst="rect">
            <a:avLst/>
          </a:prstGeom>
        </p:spPr>
      </p:pic>
      <p:sp>
        <p:nvSpPr>
          <p:cNvPr id="5" name="label_67"/>
          <p:cNvSpPr txBox="1"/>
          <p:nvPr/>
        </p:nvSpPr>
        <p:spPr>
          <a:xfrm>
            <a:off x="548640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bg2"/>
                </a:solidFill>
              </a:rPr>
              <a:t>COURSE OUTCOME</a:t>
            </a:r>
            <a:endParaRPr lang="en-US" sz="1100" dirty="0"/>
          </a:p>
        </p:txBody>
      </p:sp>
      <p:sp>
        <p:nvSpPr>
          <p:cNvPr id="6" name="CO numeral shadow"/>
          <p:cNvSpPr txBox="1"/>
          <p:nvPr/>
        </p:nvSpPr>
        <p:spPr>
          <a:xfrm>
            <a:off x="621792" y="2816352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chemeClr val="accent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3000" dirty="0"/>
          </a:p>
        </p:txBody>
      </p:sp>
      <p:sp>
        <p:nvSpPr>
          <p:cNvPr id="7" name="CO numeral"/>
          <p:cNvSpPr txBox="1"/>
          <p:nvPr/>
        </p:nvSpPr>
        <p:spPr>
          <a:xfrm>
            <a:off x="548640" y="27432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chemeClr val="accent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3000" dirty="0"/>
          </a:p>
        </p:txBody>
      </p:sp>
      <p:sp>
        <p:nvSpPr>
          <p:cNvPr id="8" name="CO subject"/>
          <p:cNvSpPr txBox="1"/>
          <p:nvPr/>
        </p:nvSpPr>
        <p:spPr>
          <a:xfrm>
            <a:off x="548640" y="48463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Methods, Arrays and Searching</a:t>
            </a:r>
            <a:endParaRPr lang="en-US" sz="2200" dirty="0"/>
          </a:p>
        </p:txBody>
      </p:sp>
      <p:sp>
        <p:nvSpPr>
          <p:cNvPr id="9" name="card_68"/>
          <p:cNvSpPr/>
          <p:nvPr/>
        </p:nvSpPr>
        <p:spPr>
          <a:xfrm>
            <a:off x="3931920" y="146304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10" name="numbadge_69"/>
          <p:cNvSpPr/>
          <p:nvPr/>
        </p:nvSpPr>
        <p:spPr>
          <a:xfrm>
            <a:off x="4160520" y="166420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6052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164592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Methods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217627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divide the program into reusable tasks.</a:t>
            </a:r>
            <a:endParaRPr lang="en-US" sz="1400" dirty="0"/>
          </a:p>
        </p:txBody>
      </p:sp>
      <p:sp>
        <p:nvSpPr>
          <p:cNvPr id="14" name="card_70"/>
          <p:cNvSpPr/>
          <p:nvPr/>
        </p:nvSpPr>
        <p:spPr>
          <a:xfrm>
            <a:off x="7877556" y="146304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15" name="numbadge_71"/>
          <p:cNvSpPr/>
          <p:nvPr/>
        </p:nvSpPr>
        <p:spPr>
          <a:xfrm>
            <a:off x="8106156" y="166420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106156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609076" y="164592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Core methods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106156" y="217627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markAttendance(), addMarks(), calculateGrade() and showReport().</a:t>
            </a:r>
            <a:endParaRPr lang="en-US" sz="1400" dirty="0"/>
          </a:p>
        </p:txBody>
      </p:sp>
      <p:sp>
        <p:nvSpPr>
          <p:cNvPr id="19" name="card_72"/>
          <p:cNvSpPr/>
          <p:nvPr/>
        </p:nvSpPr>
        <p:spPr>
          <a:xfrm>
            <a:off x="3931920" y="301752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20" name="numbadge_73"/>
          <p:cNvSpPr/>
          <p:nvPr/>
        </p:nvSpPr>
        <p:spPr>
          <a:xfrm>
            <a:off x="4160520" y="321868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16052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663440" y="320040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Lists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160520" y="373075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hold student, attendance and marks records.</a:t>
            </a:r>
            <a:endParaRPr lang="en-US" sz="1400" dirty="0"/>
          </a:p>
        </p:txBody>
      </p:sp>
      <p:sp>
        <p:nvSpPr>
          <p:cNvPr id="24" name="card_74"/>
          <p:cNvSpPr/>
          <p:nvPr/>
        </p:nvSpPr>
        <p:spPr>
          <a:xfrm>
            <a:off x="7877556" y="301752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25" name="numbadge_75"/>
          <p:cNvSpPr/>
          <p:nvPr/>
        </p:nvSpPr>
        <p:spPr>
          <a:xfrm>
            <a:off x="8106156" y="321868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106156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8609076" y="320040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Loops and search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106156" y="373075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locate a student by roll number.</a:t>
            </a:r>
            <a:endParaRPr lang="en-US" sz="1400" dirty="0"/>
          </a:p>
        </p:txBody>
      </p:sp>
      <p:sp>
        <p:nvSpPr>
          <p:cNvPr id="29" name="Example callout"/>
          <p:cNvSpPr/>
          <p:nvPr/>
        </p:nvSpPr>
        <p:spPr>
          <a:xfrm>
            <a:off x="3931920" y="4572000"/>
            <a:ext cx="7708392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blurRad="177800" dist="50800" dir="5400000" algn="bl" rotWithShape="0">
              <a:srgbClr val="1B1F4B">
                <a:alpha val="25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4206240" y="4572000"/>
            <a:ext cx="7159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3"/>
                </a:solidFill>
              </a:rPr>
              <a:t>BENEFIT</a:t>
            </a:r>
            <a:endParaRPr lang="en-US" sz="11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Modular methods make the program easier to test and maintain.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5F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3200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 4 Topics</a:t>
            </a:r>
            <a:endParaRPr lang="en-US" sz="3600" dirty="0"/>
          </a:p>
        </p:txBody>
      </p:sp>
      <p:sp>
        <p:nvSpPr>
          <p:cNvPr id="3" name="badge_76"/>
          <p:cNvSpPr/>
          <p:nvPr/>
        </p:nvSpPr>
        <p:spPr>
          <a:xfrm>
            <a:off x="8622792" y="150876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5B5BF0"/>
          </a:solidFill>
          <a:ln w="12700">
            <a:solidFill>
              <a:srgbClr val="5B5BF0"/>
            </a:solidFill>
            <a:prstDash val="solid"/>
          </a:ln>
        </p:spPr>
      </p:sp>
      <p:pic>
        <p:nvPicPr>
          <p:cNvPr id="4" name="icon_7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7102" y="1703070"/>
            <a:ext cx="388620" cy="388620"/>
          </a:xfrm>
          <a:prstGeom prst="rect">
            <a:avLst/>
          </a:prstGeom>
        </p:spPr>
      </p:pic>
      <p:sp>
        <p:nvSpPr>
          <p:cNvPr id="5" name="label_78"/>
          <p:cNvSpPr txBox="1"/>
          <p:nvPr/>
        </p:nvSpPr>
        <p:spPr>
          <a:xfrm>
            <a:off x="8622792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bg2"/>
                </a:solidFill>
              </a:rPr>
              <a:t>COURSE OUTCOME</a:t>
            </a:r>
            <a:endParaRPr lang="en-US" sz="1100" dirty="0"/>
          </a:p>
        </p:txBody>
      </p:sp>
      <p:sp>
        <p:nvSpPr>
          <p:cNvPr id="6" name="CO numeral shadow"/>
          <p:cNvSpPr txBox="1"/>
          <p:nvPr/>
        </p:nvSpPr>
        <p:spPr>
          <a:xfrm>
            <a:off x="8695944" y="2816352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chemeClr val="accent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3000" dirty="0"/>
          </a:p>
        </p:txBody>
      </p:sp>
      <p:sp>
        <p:nvSpPr>
          <p:cNvPr id="7" name="CO numeral"/>
          <p:cNvSpPr txBox="1"/>
          <p:nvPr/>
        </p:nvSpPr>
        <p:spPr>
          <a:xfrm>
            <a:off x="8622792" y="27432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chemeClr val="accent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3000" dirty="0"/>
          </a:p>
        </p:txBody>
      </p:sp>
      <p:sp>
        <p:nvSpPr>
          <p:cNvPr id="8" name="CO subject"/>
          <p:cNvSpPr txBox="1"/>
          <p:nvPr/>
        </p:nvSpPr>
        <p:spPr>
          <a:xfrm>
            <a:off x="8622792" y="48463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Object-Oriented Programming</a:t>
            </a:r>
            <a:endParaRPr lang="en-US" sz="2200" dirty="0"/>
          </a:p>
        </p:txBody>
      </p:sp>
      <p:sp>
        <p:nvSpPr>
          <p:cNvPr id="9" name="card_79"/>
          <p:cNvSpPr/>
          <p:nvPr/>
        </p:nvSpPr>
        <p:spPr>
          <a:xfrm>
            <a:off x="548640" y="146304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10" name="numbadge_80"/>
          <p:cNvSpPr/>
          <p:nvPr/>
        </p:nvSpPr>
        <p:spPr>
          <a:xfrm>
            <a:off x="777240" y="166420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164592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Student and Course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17627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are classes; each student/course is an object.</a:t>
            </a:r>
            <a:endParaRPr lang="en-US" sz="1400" dirty="0"/>
          </a:p>
        </p:txBody>
      </p:sp>
      <p:sp>
        <p:nvSpPr>
          <p:cNvPr id="14" name="card_81"/>
          <p:cNvSpPr/>
          <p:nvPr/>
        </p:nvSpPr>
        <p:spPr>
          <a:xfrm>
            <a:off x="4494276" y="146304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15" name="numbadge_82"/>
          <p:cNvSpPr/>
          <p:nvPr/>
        </p:nvSpPr>
        <p:spPr>
          <a:xfrm>
            <a:off x="4722876" y="166420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22876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225796" y="164592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Encapsulation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722876" y="217627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protects student fields using private variables.</a:t>
            </a:r>
            <a:endParaRPr lang="en-US" sz="1400" dirty="0"/>
          </a:p>
        </p:txBody>
      </p:sp>
      <p:sp>
        <p:nvSpPr>
          <p:cNvPr id="19" name="card_83"/>
          <p:cNvSpPr/>
          <p:nvPr/>
        </p:nvSpPr>
        <p:spPr>
          <a:xfrm>
            <a:off x="548640" y="301752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20" name="numbadge_84"/>
          <p:cNvSpPr/>
          <p:nvPr/>
        </p:nvSpPr>
        <p:spPr>
          <a:xfrm>
            <a:off x="777240" y="321868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320040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Reportable interface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373075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defines a common printReport() operation.</a:t>
            </a:r>
            <a:endParaRPr lang="en-US" sz="1400" dirty="0"/>
          </a:p>
        </p:txBody>
      </p:sp>
      <p:sp>
        <p:nvSpPr>
          <p:cNvPr id="24" name="card_85"/>
          <p:cNvSpPr/>
          <p:nvPr/>
        </p:nvSpPr>
        <p:spPr>
          <a:xfrm>
            <a:off x="4494276" y="301752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25" name="numbadge_86"/>
          <p:cNvSpPr/>
          <p:nvPr/>
        </p:nvSpPr>
        <p:spPr>
          <a:xfrm>
            <a:off x="4722876" y="321868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22876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225796" y="320040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Constructors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722876" y="373075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initialise student data and course details.</a:t>
            </a:r>
            <a:endParaRPr lang="en-US" sz="1400" dirty="0"/>
          </a:p>
        </p:txBody>
      </p:sp>
      <p:sp>
        <p:nvSpPr>
          <p:cNvPr id="29" name="card_87"/>
          <p:cNvSpPr/>
          <p:nvPr/>
        </p:nvSpPr>
        <p:spPr>
          <a:xfrm>
            <a:off x="548640" y="4572000"/>
            <a:ext cx="7708392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30" name="numbadge_88"/>
          <p:cNvSpPr/>
          <p:nvPr/>
        </p:nvSpPr>
        <p:spPr>
          <a:xfrm>
            <a:off x="777240" y="477316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724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1280160" y="4754880"/>
            <a:ext cx="6793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Exceptions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777240" y="5285232"/>
            <a:ext cx="7251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handle invalid marks, duplicate roll numbers and missing students.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5F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3200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 5 Topics</a:t>
            </a:r>
            <a:endParaRPr lang="en-US" sz="3600" dirty="0"/>
          </a:p>
        </p:txBody>
      </p:sp>
      <p:sp>
        <p:nvSpPr>
          <p:cNvPr id="3" name="badge_89"/>
          <p:cNvSpPr/>
          <p:nvPr/>
        </p:nvSpPr>
        <p:spPr>
          <a:xfrm>
            <a:off x="548640" y="150876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5B5BF0"/>
          </a:solidFill>
          <a:ln w="12700">
            <a:solidFill>
              <a:srgbClr val="5B5BF0"/>
            </a:solidFill>
            <a:prstDash val="solid"/>
          </a:ln>
        </p:spPr>
      </p:sp>
      <p:pic>
        <p:nvPicPr>
          <p:cNvPr id="4" name="icon_9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703070"/>
            <a:ext cx="388620" cy="388620"/>
          </a:xfrm>
          <a:prstGeom prst="rect">
            <a:avLst/>
          </a:prstGeom>
        </p:spPr>
      </p:pic>
      <p:sp>
        <p:nvSpPr>
          <p:cNvPr id="5" name="label_91"/>
          <p:cNvSpPr txBox="1"/>
          <p:nvPr/>
        </p:nvSpPr>
        <p:spPr>
          <a:xfrm>
            <a:off x="548640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bg2"/>
                </a:solidFill>
              </a:rPr>
              <a:t>COURSE OUTCOME</a:t>
            </a:r>
            <a:endParaRPr lang="en-US" sz="1100" dirty="0"/>
          </a:p>
        </p:txBody>
      </p:sp>
      <p:sp>
        <p:nvSpPr>
          <p:cNvPr id="6" name="CO numeral shadow"/>
          <p:cNvSpPr txBox="1"/>
          <p:nvPr/>
        </p:nvSpPr>
        <p:spPr>
          <a:xfrm>
            <a:off x="621792" y="2816352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chemeClr val="accent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3000" dirty="0"/>
          </a:p>
        </p:txBody>
      </p:sp>
      <p:sp>
        <p:nvSpPr>
          <p:cNvPr id="7" name="CO numeral"/>
          <p:cNvSpPr txBox="1"/>
          <p:nvPr/>
        </p:nvSpPr>
        <p:spPr>
          <a:xfrm>
            <a:off x="548640" y="27432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chemeClr val="accent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3000" dirty="0"/>
          </a:p>
        </p:txBody>
      </p:sp>
      <p:sp>
        <p:nvSpPr>
          <p:cNvPr id="8" name="CO subject"/>
          <p:cNvSpPr txBox="1"/>
          <p:nvPr/>
        </p:nvSpPr>
        <p:spPr>
          <a:xfrm>
            <a:off x="548640" y="48463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Strings and File Handling</a:t>
            </a:r>
            <a:endParaRPr lang="en-US" sz="2200" dirty="0"/>
          </a:p>
        </p:txBody>
      </p:sp>
      <p:sp>
        <p:nvSpPr>
          <p:cNvPr id="9" name="card_92"/>
          <p:cNvSpPr/>
          <p:nvPr/>
        </p:nvSpPr>
        <p:spPr>
          <a:xfrm>
            <a:off x="3931920" y="146304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10" name="numbadge_93"/>
          <p:cNvSpPr/>
          <p:nvPr/>
        </p:nvSpPr>
        <p:spPr>
          <a:xfrm>
            <a:off x="4160520" y="166420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6052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164592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Strings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217627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store student names, roll numbers and course codes.</a:t>
            </a:r>
            <a:endParaRPr lang="en-US" sz="1400" dirty="0"/>
          </a:p>
        </p:txBody>
      </p:sp>
      <p:sp>
        <p:nvSpPr>
          <p:cNvPr id="14" name="card_94"/>
          <p:cNvSpPr/>
          <p:nvPr/>
        </p:nvSpPr>
        <p:spPr>
          <a:xfrm>
            <a:off x="7877556" y="146304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15" name="numbadge_95"/>
          <p:cNvSpPr/>
          <p:nvPr/>
        </p:nvSpPr>
        <p:spPr>
          <a:xfrm>
            <a:off x="8106156" y="166420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106156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609076" y="164592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String formatting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106156" y="217627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creates readable report rows.</a:t>
            </a:r>
            <a:endParaRPr lang="en-US" sz="1400" dirty="0"/>
          </a:p>
        </p:txBody>
      </p:sp>
      <p:sp>
        <p:nvSpPr>
          <p:cNvPr id="19" name="card_96"/>
          <p:cNvSpPr/>
          <p:nvPr/>
        </p:nvSpPr>
        <p:spPr>
          <a:xfrm>
            <a:off x="3931920" y="301752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20" name="numbadge_97"/>
          <p:cNvSpPr/>
          <p:nvPr/>
        </p:nvSpPr>
        <p:spPr>
          <a:xfrm>
            <a:off x="4160520" y="321868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16052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663440" y="320040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Path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160520" y="373075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represents the location of the report file.</a:t>
            </a:r>
            <a:endParaRPr lang="en-US" sz="1400" dirty="0"/>
          </a:p>
        </p:txBody>
      </p:sp>
      <p:sp>
        <p:nvSpPr>
          <p:cNvPr id="24" name="card_98"/>
          <p:cNvSpPr/>
          <p:nvPr/>
        </p:nvSpPr>
        <p:spPr>
          <a:xfrm>
            <a:off x="7877556" y="301752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25" name="numbadge_99"/>
          <p:cNvSpPr/>
          <p:nvPr/>
        </p:nvSpPr>
        <p:spPr>
          <a:xfrm>
            <a:off x="8106156" y="321868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106156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8609076" y="320040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Files.createDirectories()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106156" y="373075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creates the reports folder.</a:t>
            </a:r>
            <a:endParaRPr lang="en-US" sz="1400" dirty="0"/>
          </a:p>
        </p:txBody>
      </p:sp>
      <p:sp>
        <p:nvSpPr>
          <p:cNvPr id="29" name="card_100"/>
          <p:cNvSpPr/>
          <p:nvPr/>
        </p:nvSpPr>
        <p:spPr>
          <a:xfrm>
            <a:off x="3931920" y="457200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30" name="numbadge_101"/>
          <p:cNvSpPr/>
          <p:nvPr/>
        </p:nvSpPr>
        <p:spPr>
          <a:xfrm>
            <a:off x="4160520" y="477316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16052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63440" y="475488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Files.write()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4160520" y="528523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saves the report as a .txt file.</a:t>
            </a:r>
            <a:endParaRPr lang="en-US" sz="1400" dirty="0"/>
          </a:p>
        </p:txBody>
      </p:sp>
      <p:sp>
        <p:nvSpPr>
          <p:cNvPr id="34" name="Example callout"/>
          <p:cNvSpPr/>
          <p:nvPr/>
        </p:nvSpPr>
        <p:spPr>
          <a:xfrm>
            <a:off x="7877556" y="457200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blurRad="177800" dist="50800" dir="5400000" algn="bl" rotWithShape="0">
              <a:srgbClr val="1B1F4B">
                <a:alpha val="25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8151876" y="4572000"/>
            <a:ext cx="32141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3"/>
                </a:solidFill>
              </a:rPr>
              <a:t>PROJECT EXAMPLE</a:t>
            </a:r>
            <a:endParaRPr lang="en-US" sz="11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report_101.txt contains attendance and grade details.</a:t>
            </a:r>
            <a:endParaRPr lang="en-US" sz="11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5F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3200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 6 Topics</a:t>
            </a:r>
            <a:endParaRPr lang="en-US" sz="3600" dirty="0"/>
          </a:p>
        </p:txBody>
      </p:sp>
      <p:sp>
        <p:nvSpPr>
          <p:cNvPr id="3" name="badge_102"/>
          <p:cNvSpPr/>
          <p:nvPr/>
        </p:nvSpPr>
        <p:spPr>
          <a:xfrm>
            <a:off x="8622792" y="150876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5B5BF0"/>
          </a:solidFill>
          <a:ln w="12700">
            <a:solidFill>
              <a:srgbClr val="5B5BF0"/>
            </a:solidFill>
            <a:prstDash val="solid"/>
          </a:ln>
        </p:spPr>
      </p:sp>
      <p:pic>
        <p:nvPicPr>
          <p:cNvPr id="4" name="icon_10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7102" y="1703070"/>
            <a:ext cx="388620" cy="388620"/>
          </a:xfrm>
          <a:prstGeom prst="rect">
            <a:avLst/>
          </a:prstGeom>
        </p:spPr>
      </p:pic>
      <p:sp>
        <p:nvSpPr>
          <p:cNvPr id="5" name="label_104"/>
          <p:cNvSpPr txBox="1"/>
          <p:nvPr/>
        </p:nvSpPr>
        <p:spPr>
          <a:xfrm>
            <a:off x="8622792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bg2"/>
                </a:solidFill>
              </a:rPr>
              <a:t>COURSE OUTCOME</a:t>
            </a:r>
            <a:endParaRPr lang="en-US" sz="1100" dirty="0"/>
          </a:p>
        </p:txBody>
      </p:sp>
      <p:sp>
        <p:nvSpPr>
          <p:cNvPr id="6" name="CO numeral shadow"/>
          <p:cNvSpPr txBox="1"/>
          <p:nvPr/>
        </p:nvSpPr>
        <p:spPr>
          <a:xfrm>
            <a:off x="8695944" y="2816352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chemeClr val="accent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3000" dirty="0"/>
          </a:p>
        </p:txBody>
      </p:sp>
      <p:sp>
        <p:nvSpPr>
          <p:cNvPr id="7" name="CO numeral"/>
          <p:cNvSpPr txBox="1"/>
          <p:nvPr/>
        </p:nvSpPr>
        <p:spPr>
          <a:xfrm>
            <a:off x="8622792" y="27432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chemeClr val="accent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3000" dirty="0"/>
          </a:p>
        </p:txBody>
      </p:sp>
      <p:sp>
        <p:nvSpPr>
          <p:cNvPr id="8" name="CO subject"/>
          <p:cNvSpPr txBox="1"/>
          <p:nvPr/>
        </p:nvSpPr>
        <p:spPr>
          <a:xfrm>
            <a:off x="8622792" y="48463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Collections, Lambdas and Streams</a:t>
            </a:r>
            <a:endParaRPr lang="en-US" sz="2200" dirty="0"/>
          </a:p>
        </p:txBody>
      </p:sp>
      <p:sp>
        <p:nvSpPr>
          <p:cNvPr id="9" name="card_105"/>
          <p:cNvSpPr/>
          <p:nvPr/>
        </p:nvSpPr>
        <p:spPr>
          <a:xfrm>
            <a:off x="548640" y="146304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10" name="numbadge_106"/>
          <p:cNvSpPr/>
          <p:nvPr/>
        </p:nvSpPr>
        <p:spPr>
          <a:xfrm>
            <a:off x="777240" y="166420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164592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List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17627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stores multiple students and their records.</a:t>
            </a:r>
            <a:endParaRPr lang="en-US" sz="1400" dirty="0"/>
          </a:p>
        </p:txBody>
      </p:sp>
      <p:sp>
        <p:nvSpPr>
          <p:cNvPr id="14" name="card_107"/>
          <p:cNvSpPr/>
          <p:nvPr/>
        </p:nvSpPr>
        <p:spPr>
          <a:xfrm>
            <a:off x="4494276" y="146304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15" name="numbadge_108"/>
          <p:cNvSpPr/>
          <p:nvPr/>
        </p:nvSpPr>
        <p:spPr>
          <a:xfrm>
            <a:off x="4722876" y="166420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22876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225796" y="164592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Predicate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722876" y="217627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checks whether attendance is below the required level.</a:t>
            </a:r>
            <a:endParaRPr lang="en-US" sz="1400" dirty="0"/>
          </a:p>
        </p:txBody>
      </p:sp>
      <p:sp>
        <p:nvSpPr>
          <p:cNvPr id="19" name="card_109"/>
          <p:cNvSpPr/>
          <p:nvPr/>
        </p:nvSpPr>
        <p:spPr>
          <a:xfrm>
            <a:off x="548640" y="301752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20" name="numbadge_110"/>
          <p:cNvSpPr/>
          <p:nvPr/>
        </p:nvSpPr>
        <p:spPr>
          <a:xfrm>
            <a:off x="777240" y="321868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320040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Streams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373075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filter student records.</a:t>
            </a:r>
            <a:endParaRPr lang="en-US" sz="1400" dirty="0"/>
          </a:p>
        </p:txBody>
      </p:sp>
      <p:sp>
        <p:nvSpPr>
          <p:cNvPr id="24" name="card_111"/>
          <p:cNvSpPr/>
          <p:nvPr/>
        </p:nvSpPr>
        <p:spPr>
          <a:xfrm>
            <a:off x="4494276" y="301752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25" name="numbadge_112"/>
          <p:cNvSpPr/>
          <p:nvPr/>
        </p:nvSpPr>
        <p:spPr>
          <a:xfrm>
            <a:off x="4722876" y="321868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22876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225796" y="320040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Lambdas and method references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722876" y="373075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simplify processing.</a:t>
            </a:r>
            <a:endParaRPr lang="en-US" sz="1400" dirty="0"/>
          </a:p>
        </p:txBody>
      </p:sp>
      <p:sp>
        <p:nvSpPr>
          <p:cNvPr id="29" name="card_113"/>
          <p:cNvSpPr/>
          <p:nvPr/>
        </p:nvSpPr>
        <p:spPr>
          <a:xfrm>
            <a:off x="548640" y="457200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DE0F5"/>
            </a:solidFill>
            <a:prstDash val="solid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sp>
        <p:nvSpPr>
          <p:cNvPr id="30" name="numbadge_114"/>
          <p:cNvSpPr/>
          <p:nvPr/>
        </p:nvSpPr>
        <p:spPr>
          <a:xfrm>
            <a:off x="777240" y="4773168"/>
            <a:ext cx="384048" cy="384048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724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1280160" y="4754880"/>
            <a:ext cx="2848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Collectors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777240" y="5285232"/>
            <a:ext cx="33055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organise filtered results into a list.</a:t>
            </a:r>
            <a:endParaRPr lang="en-US" sz="1400" dirty="0"/>
          </a:p>
        </p:txBody>
      </p:sp>
      <p:sp>
        <p:nvSpPr>
          <p:cNvPr id="34" name="Example callout"/>
          <p:cNvSpPr/>
          <p:nvPr/>
        </p:nvSpPr>
        <p:spPr>
          <a:xfrm>
            <a:off x="4494276" y="4572000"/>
            <a:ext cx="3762756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blurRad="177800" dist="50800" dir="5400000" algn="bl" rotWithShape="0">
              <a:srgbClr val="1B1F4B">
                <a:alpha val="25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4768596" y="4572000"/>
            <a:ext cx="32141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3"/>
                </a:solidFill>
              </a:rPr>
              <a:t>PROJECT EXAMPLE</a:t>
            </a:r>
            <a:endParaRPr lang="en-US" sz="11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Search and display only students with low attendance.</a:t>
            </a:r>
            <a:endParaRPr lang="en-US" sz="11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5F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3200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Grade and Attendance Tracker shows how Java concepts work together in one application.</a:t>
            </a:r>
            <a:endParaRPr lang="en-US" sz="2400" dirty="0"/>
          </a:p>
        </p:txBody>
      </p:sp>
      <p:sp>
        <p:nvSpPr>
          <p:cNvPr id="4" name="label_115"/>
          <p:cNvSpPr txBox="1"/>
          <p:nvPr/>
        </p:nvSpPr>
        <p:spPr>
          <a:xfrm>
            <a:off x="54864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3"/>
                </a:solidFill>
              </a:rPr>
              <a:t>FUTURE SCOPE</a:t>
            </a:r>
            <a:endParaRPr lang="en-US" sz="1100" dirty="0"/>
          </a:p>
        </p:txBody>
      </p:sp>
      <p:sp>
        <p:nvSpPr>
          <p:cNvPr id="5" name="chip_116"/>
          <p:cNvSpPr/>
          <p:nvPr/>
        </p:nvSpPr>
        <p:spPr>
          <a:xfrm>
            <a:off x="548640" y="3840480"/>
            <a:ext cx="182880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840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Database storage</a:t>
            </a:r>
            <a:endParaRPr lang="en-US" sz="1300" dirty="0"/>
          </a:p>
        </p:txBody>
      </p:sp>
      <p:sp>
        <p:nvSpPr>
          <p:cNvPr id="7" name="chip_117"/>
          <p:cNvSpPr/>
          <p:nvPr/>
        </p:nvSpPr>
        <p:spPr>
          <a:xfrm>
            <a:off x="2487168" y="3840480"/>
            <a:ext cx="210312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87168" y="38404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GUI / web interface</a:t>
            </a:r>
            <a:endParaRPr lang="en-US" sz="1300" dirty="0"/>
          </a:p>
        </p:txBody>
      </p:sp>
      <p:sp>
        <p:nvSpPr>
          <p:cNvPr id="9" name="chip_118"/>
          <p:cNvSpPr/>
          <p:nvPr/>
        </p:nvSpPr>
        <p:spPr>
          <a:xfrm>
            <a:off x="548640" y="4315968"/>
            <a:ext cx="146304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3159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Email alerts</a:t>
            </a:r>
            <a:endParaRPr lang="en-US" sz="1300" dirty="0"/>
          </a:p>
        </p:txBody>
      </p:sp>
      <p:sp>
        <p:nvSpPr>
          <p:cNvPr id="11" name="chip_119"/>
          <p:cNvSpPr/>
          <p:nvPr/>
        </p:nvSpPr>
        <p:spPr>
          <a:xfrm>
            <a:off x="2121408" y="4315968"/>
            <a:ext cx="228600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21408" y="43159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Charts and PDF export</a:t>
            </a:r>
            <a:endParaRPr lang="en-US" sz="1300" dirty="0"/>
          </a:p>
        </p:txBody>
      </p:sp>
      <p:sp>
        <p:nvSpPr>
          <p:cNvPr id="13" name="Note callout"/>
          <p:cNvSpPr/>
          <p:nvPr/>
        </p:nvSpPr>
        <p:spPr>
          <a:xfrm>
            <a:off x="548640" y="5074920"/>
            <a:ext cx="4480560" cy="1051560"/>
          </a:xfrm>
          <a:prstGeom prst="roundRect">
            <a:avLst>
              <a:gd name="adj" fmla="val 10435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07492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3"/>
                </a:solidFill>
              </a:rPr>
              <a:t>NOTE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This is an educational prototype, not an official university system.</a:t>
            </a:r>
            <a:endParaRPr lang="en-US" sz="1100" dirty="0"/>
          </a:p>
        </p:txBody>
      </p:sp>
      <p:sp>
        <p:nvSpPr>
          <p:cNvPr id="15" name="tile_120"/>
          <p:cNvSpPr/>
          <p:nvPr/>
        </p:nvSpPr>
        <p:spPr>
          <a:xfrm>
            <a:off x="5394960" y="1508760"/>
            <a:ext cx="3044952" cy="2286000"/>
          </a:xfrm>
          <a:prstGeom prst="roundRect">
            <a:avLst>
              <a:gd name="adj" fmla="val 4800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5"/>
            </a:solidFill>
            <a:prstDash val="solid"/>
          </a:ln>
          <a:effectLst>
            <a:outerShdw blurRad="254000" dist="1016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badge_121"/>
          <p:cNvSpPr/>
          <p:nvPr/>
        </p:nvSpPr>
        <p:spPr>
          <a:xfrm>
            <a:off x="5669280" y="178308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5B5BF0"/>
          </a:solidFill>
          <a:ln w="12700">
            <a:solidFill>
              <a:srgbClr val="5B5BF0"/>
            </a:solidFill>
            <a:prstDash val="solid"/>
          </a:ln>
        </p:spPr>
      </p:sp>
      <p:pic>
        <p:nvPicPr>
          <p:cNvPr id="17" name="icon_12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1943100"/>
            <a:ext cx="320040" cy="3200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669280" y="2560320"/>
            <a:ext cx="2496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Organised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Student records are organised using classes and collections.</a:t>
            </a:r>
            <a:endParaRPr lang="en-US" sz="1700" dirty="0"/>
          </a:p>
        </p:txBody>
      </p:sp>
      <p:sp>
        <p:nvSpPr>
          <p:cNvPr id="19" name="tile_123"/>
          <p:cNvSpPr/>
          <p:nvPr/>
        </p:nvSpPr>
        <p:spPr>
          <a:xfrm>
            <a:off x="8641080" y="1508760"/>
            <a:ext cx="3044952" cy="2286000"/>
          </a:xfrm>
          <a:prstGeom prst="roundRect">
            <a:avLst>
              <a:gd name="adj" fmla="val 4800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5"/>
            </a:solidFill>
            <a:prstDash val="solid"/>
          </a:ln>
          <a:effectLst>
            <a:outerShdw blurRad="254000" dist="1016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badge_124"/>
          <p:cNvSpPr/>
          <p:nvPr/>
        </p:nvSpPr>
        <p:spPr>
          <a:xfrm>
            <a:off x="8915400" y="178308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22C3A6"/>
          </a:solidFill>
          <a:ln w="12700">
            <a:solidFill>
              <a:srgbClr val="22C3A6"/>
            </a:solidFill>
            <a:prstDash val="solid"/>
          </a:ln>
        </p:spPr>
      </p:sp>
      <p:pic>
        <p:nvPicPr>
          <p:cNvPr id="21" name="icon_12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5420" y="1943100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915400" y="2560320"/>
            <a:ext cx="2496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Automatic results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Attendance percentage and grades are calculated automatically.</a:t>
            </a:r>
            <a:endParaRPr lang="en-US" sz="1700" dirty="0"/>
          </a:p>
        </p:txBody>
      </p:sp>
      <p:sp>
        <p:nvSpPr>
          <p:cNvPr id="23" name="tile_126"/>
          <p:cNvSpPr/>
          <p:nvPr/>
        </p:nvSpPr>
        <p:spPr>
          <a:xfrm>
            <a:off x="5394960" y="3977640"/>
            <a:ext cx="3044952" cy="2286000"/>
          </a:xfrm>
          <a:prstGeom prst="roundRect">
            <a:avLst>
              <a:gd name="adj" fmla="val 4800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5"/>
            </a:solidFill>
            <a:prstDash val="solid"/>
          </a:ln>
          <a:effectLst>
            <a:outerShdw blurRad="254000" dist="1016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badge_127"/>
          <p:cNvSpPr/>
          <p:nvPr/>
        </p:nvSpPr>
        <p:spPr>
          <a:xfrm>
            <a:off x="5669280" y="425196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pic>
        <p:nvPicPr>
          <p:cNvPr id="25" name="icon_12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300" y="4411980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669280" y="5029200"/>
            <a:ext cx="2496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Validated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Validation prevents invalid marks and attendance values.</a:t>
            </a:r>
            <a:endParaRPr lang="en-US" sz="1700" dirty="0"/>
          </a:p>
        </p:txBody>
      </p:sp>
      <p:sp>
        <p:nvSpPr>
          <p:cNvPr id="27" name="tile_129"/>
          <p:cNvSpPr/>
          <p:nvPr/>
        </p:nvSpPr>
        <p:spPr>
          <a:xfrm>
            <a:off x="8641080" y="3977640"/>
            <a:ext cx="3044952" cy="2286000"/>
          </a:xfrm>
          <a:prstGeom prst="roundRect">
            <a:avLst>
              <a:gd name="adj" fmla="val 4800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5"/>
            </a:solidFill>
            <a:prstDash val="solid"/>
          </a:ln>
          <a:effectLst>
            <a:outerShdw blurRad="254000" dist="1016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badge_130"/>
          <p:cNvSpPr/>
          <p:nvPr/>
        </p:nvSpPr>
        <p:spPr>
          <a:xfrm>
            <a:off x="8915400" y="425196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29" name="icon_13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5420" y="4411980"/>
            <a:ext cx="320040" cy="32004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915400" y="5029200"/>
            <a:ext cx="2496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Readable output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File handling saves a readable report.</a:t>
            </a:r>
            <a:endParaRPr lang="en-US" sz="17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ADF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3200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Geo Tag Photo and GitHub Link</a:t>
            </a:r>
            <a:endParaRPr lang="en-US" sz="3600" dirty="0"/>
          </a:p>
        </p:txBody>
      </p:sp>
      <p:sp>
        <p:nvSpPr>
          <p:cNvPr id="3" name="Photo frame"/>
          <p:cNvSpPr/>
          <p:nvPr/>
        </p:nvSpPr>
        <p:spPr>
          <a:xfrm>
            <a:off x="548640" y="1463040"/>
            <a:ext cx="5486400" cy="402336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dash"/>
          </a:ln>
          <a:effectLst>
            <a:outerShdw blurRad="177800" dist="50800" dir="5400000" algn="bl" rotWithShape="0">
              <a:srgbClr val="1B1F4B">
                <a:alpha val="16000"/>
              </a:srgbClr>
            </a:outerShdw>
          </a:effectLst>
        </p:spPr>
      </p:sp>
      <p:pic>
        <p:nvPicPr>
          <p:cNvPr id="30" name="Geo-tagged photo" descr="Geo-tagged project photo taken at KL University, Hyderab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357" y="1463040"/>
            <a:ext cx="3161489" cy="4023360"/>
          </a:xfrm>
          <a:prstGeom prst="rect">
            <a:avLst/>
          </a:prstGeom>
        </p:spPr>
      </p:pic>
      <p:sp>
        <p:nvSpPr>
          <p:cNvPr id="7" name="label_134"/>
          <p:cNvSpPr txBox="1"/>
          <p:nvPr/>
        </p:nvSpPr>
        <p:spPr>
          <a:xfrm>
            <a:off x="548640" y="5669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1"/>
                </a:solidFill>
              </a:rPr>
              <a:t>GEO-TAGGED PROJECT PHOTO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Captured by GPS Map Camera at KL University, Aleap Industrial Area, Hyderabad on 13/10/2026.</a:t>
            </a:r>
            <a:endParaRPr lang="en-US" sz="1200" dirty="0"/>
          </a:p>
        </p:txBody>
      </p:sp>
      <p:sp>
        <p:nvSpPr>
          <p:cNvPr id="9" name="card_135"/>
          <p:cNvSpPr/>
          <p:nvPr/>
        </p:nvSpPr>
        <p:spPr>
          <a:xfrm>
            <a:off x="6355080" y="1463040"/>
            <a:ext cx="5285232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  <a:effectLst>
            <a:outerShdw blurRad="254000" dist="101600" dir="54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0" name="GitHub badge"/>
          <p:cNvSpPr/>
          <p:nvPr/>
        </p:nvSpPr>
        <p:spPr>
          <a:xfrm>
            <a:off x="6675120" y="1783080"/>
            <a:ext cx="822960" cy="82296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GitHub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1984248"/>
            <a:ext cx="420624" cy="420624"/>
          </a:xfrm>
          <a:prstGeom prst="rect">
            <a:avLst/>
          </a:prstGeom>
        </p:spPr>
      </p:pic>
      <p:sp>
        <p:nvSpPr>
          <p:cNvPr id="12" name="label_136"/>
          <p:cNvSpPr txBox="1"/>
          <p:nvPr/>
        </p:nvSpPr>
        <p:spPr>
          <a:xfrm>
            <a:off x="77266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3"/>
                </a:solidFill>
              </a:rPr>
              <a:t>GITHUB REPOSITORY LINK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675120" y="3017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Project source code on GitHub:</a:t>
            </a:r>
            <a:endParaRPr lang="en-US" sz="1500" dirty="0"/>
          </a:p>
        </p:txBody>
      </p:sp>
      <p:sp>
        <p:nvSpPr>
          <p:cNvPr id="14" name="URL pill"/>
          <p:cNvSpPr/>
          <p:nvPr/>
        </p:nvSpPr>
        <p:spPr>
          <a:xfrm>
            <a:off x="6675120" y="3520440"/>
            <a:ext cx="4663440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12280" y="35204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/>
              </a:rPr>
              <a:t>https://github.com/srajamanideep-droid/KLHB-FED-26-15-22University-Grade-Attendance-Tracker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675120" y="45720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University Grade and Attendance Tracker – Java project repository.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5F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Scholar">
  <a:themeElements>
    <a:clrScheme name="Midnight Scholar">
      <a:dk1>
        <a:srgbClr val="0D1130"/>
      </a:dk1>
      <a:lt1>
        <a:srgbClr val="FFFFFF"/>
      </a:lt1>
      <a:dk2>
        <a:srgbClr val="1B1F4B"/>
      </a:dk2>
      <a:lt2>
        <a:srgbClr val="5A5F8A"/>
      </a:lt2>
      <a:accent1>
        <a:srgbClr val="5B5BF0"/>
      </a:accent1>
      <a:accent2>
        <a:srgbClr val="FF6B57"/>
      </a:accent2>
      <a:accent3>
        <a:srgbClr val="FFC145"/>
      </a:accent3>
      <a:accent4>
        <a:srgbClr val="22C3A6"/>
      </a:accent4>
      <a:accent5>
        <a:srgbClr val="A9ADF0"/>
      </a:accent5>
      <a:accent6>
        <a:srgbClr val="2B2F6B"/>
      </a:accent6>
      <a:hlink>
        <a:srgbClr val="5B5BF0"/>
      </a:hlink>
      <a:folHlink>
        <a:srgbClr val="8B8FD9"/>
      </a:folHlink>
    </a:clrScheme>
    <a:fontScheme name="Midnight Scholar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763</Words>
  <Application>Microsoft Office PowerPoint</Application>
  <PresentationFormat>Widescreen</PresentationFormat>
  <Paragraphs>213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Schoolbook</vt:lpstr>
      <vt:lpstr>Courier New</vt:lpstr>
      <vt:lpstr>Midnight Scholar</vt:lpstr>
      <vt:lpstr>University Grade and Attendance Tracker</vt:lpstr>
      <vt:lpstr>Abstract</vt:lpstr>
      <vt:lpstr>Understanding Problem Statement</vt:lpstr>
      <vt:lpstr>CO 1 Topics</vt:lpstr>
      <vt:lpstr>CO 2 Topics</vt:lpstr>
      <vt:lpstr>CO 3 Topics</vt:lpstr>
      <vt:lpstr>CO 4 Topics</vt:lpstr>
      <vt:lpstr>CO 5 Topics</vt:lpstr>
      <vt:lpstr>CO 6 Topics</vt:lpstr>
      <vt:lpstr>Conclusion</vt:lpstr>
      <vt:lpstr>Geo Tag Photo and GitHub Link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Grade and Attendance Tracker</dc:title>
  <dc:subject>PptxGenJS Presentation</dc:subject>
  <dc:creator>PptxGenJS</dc:creator>
  <cp:lastModifiedBy>THOTA VENKATA HARSHA VARDHAN</cp:lastModifiedBy>
  <cp:revision>2</cp:revision>
  <dcterms:created xsi:type="dcterms:W3CDTF">2026-10-16T03:37:45Z</dcterms:created>
  <dcterms:modified xsi:type="dcterms:W3CDTF">2026-10-16T08:43:24Z</dcterms:modified>
</cp:coreProperties>
</file>